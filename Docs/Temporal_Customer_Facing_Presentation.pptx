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Temporal Workflow Definition: https://docs.temporal.io/workflow-definition
- Temporal Activities: https://docs.temporal.io/activities
- Activity Execution: https://docs.temporal.io/activity-execution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Temporal Workflow Definition: https://docs.temporal.io/workflow-definition
- Temporal Activities: https://docs.temporal.io/activities
- Task Queue: https://docs.temporal.io/task-queue
- Temporal Cloud Namespaces: https://docs.temporal.io/cloud/namespaces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Temporal Activities: https://docs.temporal.io/activities
- Activity Definition: https://docs.temporal.io/activity-definition
- Activity Execution: https://docs.temporal.io/activity-execution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GitVersion Requirements: https://gitversion.net/docs/reference/requirements
- GitVersion Configuration: https://gitversion.net/docs/reference/configuration
- Temporal safe deployments: https://docs.temporal.io/develop/safe-deployments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Task Queue: https://docs.temporal.io/task-queue
- Temporal Cloud Namespaces: https://docs.temporal.io/cloud/namespaces
- Manage service accounts: https://docs.temporal.io/cloud/service-accounts
- Cloud access control best practices: https://docs.temporal.io/best-practices/cloud-access-control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Production-ready CI/CD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 Temporal Cloud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13232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architecture proposal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13232" y="26974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CA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Vendor-neutral orchestration for build, test, version, publish, and safe promotion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3794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0A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4480560"/>
            <a:ext cx="7543800" cy="0"/>
          </a:xfrm>
          <a:prstGeom prst="line">
            <a:avLst/>
          </a:prstGeom>
          <a:noFill/>
          <a:ln w="31750">
            <a:solidFill>
              <a:srgbClr val="4EC0F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4400" y="4160520"/>
            <a:ext cx="1417320" cy="512064"/>
          </a:xfrm>
          <a:prstGeom prst="roundRect">
            <a:avLst>
              <a:gd name="adj" fmla="val 14286"/>
            </a:avLst>
          </a:prstGeom>
          <a:solidFill>
            <a:srgbClr val="133C6F"/>
          </a:solidFill>
          <a:ln w="12700">
            <a:solidFill>
              <a:srgbClr val="4EC0F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1879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+ Test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51760" y="4160520"/>
            <a:ext cx="1234440" cy="512064"/>
          </a:xfrm>
          <a:prstGeom prst="roundRect">
            <a:avLst>
              <a:gd name="adj" fmla="val 14286"/>
            </a:avLst>
          </a:prstGeom>
          <a:solidFill>
            <a:srgbClr val="174A8A"/>
          </a:solidFill>
          <a:ln w="12700">
            <a:solidFill>
              <a:srgbClr val="4EC0F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41879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GitVersion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60520" y="4160520"/>
            <a:ext cx="1508760" cy="512064"/>
          </a:xfrm>
          <a:prstGeom prst="roundRect">
            <a:avLst>
              <a:gd name="adj" fmla="val 14286"/>
            </a:avLst>
          </a:prstGeom>
          <a:solidFill>
            <a:srgbClr val="1B58A3"/>
          </a:solidFill>
          <a:ln w="12700">
            <a:solidFill>
              <a:srgbClr val="4EC0F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60520" y="418795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digest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89320" y="4160520"/>
            <a:ext cx="1325880" cy="512064"/>
          </a:xfrm>
          <a:prstGeom prst="roundRect">
            <a:avLst>
              <a:gd name="adj" fmla="val 14286"/>
            </a:avLst>
          </a:prstGeom>
          <a:solidFill>
            <a:srgbClr val="16A4A6"/>
          </a:solidFill>
          <a:ln w="12700">
            <a:solidFill>
              <a:srgbClr val="7BD5D7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9320" y="41879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DEV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589520" y="4160520"/>
            <a:ext cx="1234440" cy="512064"/>
          </a:xfrm>
          <a:prstGeom prst="roundRect">
            <a:avLst>
              <a:gd name="adj" fmla="val 14286"/>
            </a:avLst>
          </a:prstGeom>
          <a:solidFill>
            <a:srgbClr val="15803D"/>
          </a:solidFill>
          <a:ln w="12700">
            <a:solidFill>
              <a:srgbClr val="8ED0A5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89520" y="41879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QA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516636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Cloud holds state, retries external work, and prevents unsafe promotion after failed gates.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3232" y="56235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presentation focuses on production safety, failure containment, and an opinionated path to go live.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0" y="11430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0A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plane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01000" y="1417320"/>
            <a:ext cx="2377440" cy="868680"/>
          </a:xfrm>
          <a:prstGeom prst="roundRect">
            <a:avLst>
              <a:gd name="adj" fmla="val 4211"/>
            </a:avLst>
          </a:prstGeom>
          <a:solidFill>
            <a:srgbClr val="112B4B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0" y="1453896"/>
            <a:ext cx="2286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Cloud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Namespaces + Task Queues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0" y="27432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0A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plane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818120" y="3017520"/>
            <a:ext cx="2743200" cy="914400"/>
          </a:xfrm>
          <a:prstGeom prst="roundRect">
            <a:avLst>
              <a:gd name="adj" fmla="val 4000"/>
            </a:avLst>
          </a:prstGeom>
          <a:solidFill>
            <a:srgbClr val="103B3B"/>
          </a:solidFill>
          <a:ln w="15240">
            <a:solidFill>
              <a:srgbClr val="16A4A6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863840" y="3054096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Workers + adapters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runners, registry, deploy tools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0" y="47914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0A9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 policy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0" y="5047488"/>
            <a:ext cx="2011680" cy="658368"/>
          </a:xfrm>
          <a:prstGeom prst="roundRect">
            <a:avLst>
              <a:gd name="adj" fmla="val 5556"/>
            </a:avLst>
          </a:prstGeom>
          <a:solidFill>
            <a:srgbClr val="103618"/>
          </a:solidFill>
          <a:ln w="15240">
            <a:solidFill>
              <a:srgbClr val="15803D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75320" y="5084064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non-main -&gt; DEV only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-&gt; DEV then QA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 framing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goals, highest production risks, and explicit assumptions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566160" cy="38404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271016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15968" y="1234440"/>
            <a:ext cx="3566160" cy="38404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25696" y="1271016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production risks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9016" y="1234440"/>
            <a:ext cx="3566160" cy="384048"/>
          </a:xfrm>
          <a:prstGeom prst="rect">
            <a:avLst/>
          </a:prstGeom>
          <a:solidFill>
            <a:srgbClr val="16A4A6"/>
          </a:solidFill>
          <a:ln w="12700">
            <a:solidFill>
              <a:srgbClr val="16A4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38744" y="1271016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Assumptions we are making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1645920"/>
            <a:ext cx="3566160" cy="420624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524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5968" y="1645920"/>
            <a:ext cx="3566160" cy="420624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524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129016" y="1645920"/>
            <a:ext cx="3566160" cy="420624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524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" y="1847088"/>
            <a:ext cx="3236976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 CI/CD without locking into a single runner vendor</a:t>
            </a:r>
            <a:pPr indent="0" marL="0">
              <a:buNone/>
            </a:pPr>
            <a:r>
              <a:rPr lang="en-US" sz="18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the same artifact forward - no rebuild drift across environments</a:t>
            </a:r>
            <a:pPr indent="0" marL="0">
              <a:buNone/>
            </a:pPr>
            <a:r>
              <a:rPr lang="en-US" sz="18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Temporal Cloud for durable orchestration, approvals, and recovery</a:t>
            </a:r>
            <a:pPr indent="0" marL="0">
              <a:buNone/>
            </a:pPr>
            <a:r>
              <a:rPr lang="en-US" sz="18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auditability so releases are traceable and easier to support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1847088"/>
            <a:ext cx="3236976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failed or partial deploy being promoted further because state is scattered across tools</a:t>
            </a:r>
            <a:pPr indent="0" marL="0">
              <a:buNone/>
            </a:pPr>
            <a:r>
              <a:rPr lang="en-US" sz="18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runner, registry, or environment instability causing failure amplification</a:t>
            </a:r>
            <a:pPr indent="0" marL="0">
              <a:buNone/>
            </a:pPr>
            <a:r>
              <a:rPr lang="en-US" sz="18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changes to pipeline logic creating hidden rollout regressions</a:t>
            </a:r>
            <a:pPr indent="0" marL="0">
              <a:buNone/>
            </a:pPr>
            <a:r>
              <a:rPr lang="en-US" sz="18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incident recovery because evidence is spread across CI, registry, and deploy systems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93608" y="1847088"/>
            <a:ext cx="3236976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images are the release unit and can be deployed by digest</a:t>
            </a:r>
            <a:pPr indent="0" marL="0">
              <a:buNone/>
            </a:pPr>
            <a:r>
              <a:rPr lang="en-US" sz="18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GitVersion is the accepted version source after build and tests pass</a:t>
            </a:r>
            <a:pPr indent="0" marL="0">
              <a:buNone/>
            </a:pPr>
            <a:r>
              <a:rPr lang="en-US" sz="18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customer already has or will keep external runners, registries, and DEV/QA targets</a:t>
            </a:r>
            <a:pPr indent="0" marL="0">
              <a:buNone/>
            </a:pPr>
            <a:r>
              <a:rPr lang="en-US" sz="18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immediate release path ends at QA; production promotion comes later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5852160"/>
            <a:ext cx="10927080" cy="384048"/>
          </a:xfrm>
          <a:prstGeom prst="roundRect">
            <a:avLst>
              <a:gd name="adj" fmla="val 11905"/>
            </a:avLst>
          </a:prstGeom>
          <a:solidFill>
            <a:srgbClr val="EDF3FF"/>
          </a:solidFill>
          <a:ln w="12700">
            <a:solidFill>
              <a:srgbClr val="C7D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952744"/>
            <a:ext cx="10424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plain terms: the customer needs one control plane that remembers what happened, knows what should happen next, and never promotes a bad build by mistake.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Opinionated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Production-ready design: Temporal as control plane, existing delivery systems as execution plane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13232" y="12984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+ intake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23160" y="12984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Cloud control plane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102352" y="12984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Workers / adapters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60920" y="12984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systems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18320" y="12984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Environments + telemetry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03120" y="1463040"/>
            <a:ext cx="0" cy="4480560"/>
          </a:xfrm>
          <a:prstGeom prst="line">
            <a:avLst/>
          </a:prstGeom>
          <a:noFill/>
          <a:ln w="15240">
            <a:solidFill>
              <a:srgbClr val="D4DD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463040"/>
            <a:ext cx="0" cy="4480560"/>
          </a:xfrm>
          <a:prstGeom prst="line">
            <a:avLst/>
          </a:prstGeom>
          <a:noFill/>
          <a:ln w="15240">
            <a:solidFill>
              <a:srgbClr val="D4DD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86600" y="1463040"/>
            <a:ext cx="0" cy="4480560"/>
          </a:xfrm>
          <a:prstGeom prst="line">
            <a:avLst/>
          </a:prstGeom>
          <a:noFill/>
          <a:ln w="15240">
            <a:solidFill>
              <a:srgbClr val="D4DD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0" y="1463040"/>
            <a:ext cx="0" cy="4480560"/>
          </a:xfrm>
          <a:prstGeom prst="line">
            <a:avLst/>
          </a:prstGeom>
          <a:noFill/>
          <a:ln w="15240">
            <a:solidFill>
              <a:srgbClr val="D4DD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2057400"/>
            <a:ext cx="77724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29000" y="2057400"/>
            <a:ext cx="86868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29000" y="3154680"/>
            <a:ext cx="86868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29000" y="4251960"/>
            <a:ext cx="86868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69280" y="2057400"/>
            <a:ext cx="1691640" cy="0"/>
          </a:xfrm>
          <a:prstGeom prst="line">
            <a:avLst/>
          </a:prstGeom>
          <a:noFill/>
          <a:ln w="25400">
            <a:solidFill>
              <a:srgbClr val="16A4A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69280" y="3154680"/>
            <a:ext cx="1691640" cy="0"/>
          </a:xfrm>
          <a:prstGeom prst="line">
            <a:avLst/>
          </a:prstGeom>
          <a:noFill/>
          <a:ln w="25400">
            <a:solidFill>
              <a:srgbClr val="16A4A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669280" y="4251960"/>
            <a:ext cx="1691640" cy="0"/>
          </a:xfrm>
          <a:prstGeom prst="line">
            <a:avLst/>
          </a:prstGeom>
          <a:noFill/>
          <a:ln w="25400">
            <a:solidFill>
              <a:srgbClr val="16A4A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95360" y="2057400"/>
            <a:ext cx="96012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95360" y="3154680"/>
            <a:ext cx="96012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95360" y="4251960"/>
            <a:ext cx="96012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12680" y="4251960"/>
            <a:ext cx="114300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13232" y="1783080"/>
            <a:ext cx="11430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240">
            <a:solidFill>
              <a:srgbClr val="1F6FE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8952" y="181965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control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push / PR / merge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331720" y="1783080"/>
            <a:ext cx="14173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240">
            <a:solidFill>
              <a:srgbClr val="1F6FE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377440" y="181965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intake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 + normalization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2514600" y="2880360"/>
            <a:ext cx="12344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60320" y="291693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PipelineIngress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2514600" y="3977640"/>
            <a:ext cx="12344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560320" y="401421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BuildValidation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572000" y="2697480"/>
            <a:ext cx="132588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240">
            <a:solidFill>
              <a:srgbClr val="16A4A6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17720" y="273405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+ Publish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572000" y="3794760"/>
            <a:ext cx="132588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240">
            <a:solidFill>
              <a:srgbClr val="16A4A6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17720" y="383133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498080" y="1783080"/>
            <a:ext cx="10515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240">
            <a:solidFill>
              <a:srgbClr val="1F6FE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543800" y="181965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/ test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runners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424928" y="2880360"/>
            <a:ext cx="1207008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240">
            <a:solidFill>
              <a:srgbClr val="1F6FE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470648" y="2916936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Registry +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 store</a:t>
            </a:r>
            <a:endParaRPr lang="en-US" sz="1280" dirty="0"/>
          </a:p>
        </p:txBody>
      </p:sp>
      <p:sp>
        <p:nvSpPr>
          <p:cNvPr id="40" name="Shape 38"/>
          <p:cNvSpPr/>
          <p:nvPr/>
        </p:nvSpPr>
        <p:spPr>
          <a:xfrm>
            <a:off x="7498080" y="3977640"/>
            <a:ext cx="10515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240">
            <a:solidFill>
              <a:srgbClr val="1F6FE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543800" y="401421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tools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646920" y="178308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E6F8EC"/>
          </a:solidFill>
          <a:ln w="15240">
            <a:solidFill>
              <a:srgbClr val="15803D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692640" y="181965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646920" y="2880360"/>
            <a:ext cx="868680" cy="457200"/>
          </a:xfrm>
          <a:prstGeom prst="roundRect">
            <a:avLst>
              <a:gd name="adj" fmla="val 8000"/>
            </a:avLst>
          </a:prstGeom>
          <a:solidFill>
            <a:srgbClr val="E6F8EC"/>
          </a:solidFill>
          <a:ln w="15240">
            <a:solidFill>
              <a:srgbClr val="15803D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692640" y="291693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9573768" y="3977640"/>
            <a:ext cx="1005840" cy="457200"/>
          </a:xfrm>
          <a:prstGeom prst="roundRect">
            <a:avLst>
              <a:gd name="adj" fmla="val 8000"/>
            </a:avLst>
          </a:prstGeom>
          <a:solidFill>
            <a:srgbClr val="F0F7FF"/>
          </a:solidFill>
          <a:ln w="15240">
            <a:solidFill>
              <a:srgbClr val="1F6FE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9619488" y="40142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10698480" y="3840480"/>
            <a:ext cx="9601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B1F3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0744200" y="3877056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owner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+ evidence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7452360" y="5074920"/>
            <a:ext cx="4206240" cy="310896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62088" y="5111496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structure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7452360" y="5422392"/>
            <a:ext cx="42062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3970">
            <a:solidFill>
              <a:srgbClr val="D6DF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26096" y="555955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owns sequencing and recovery. External systems keep doing the execution work they already do well.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we chose this approach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Opinionated decisions, explicit tradeoffs, and what we intentionally did not choose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03504" y="1261872"/>
            <a:ext cx="3566160" cy="4892040"/>
          </a:xfrm>
          <a:prstGeom prst="roundRect">
            <a:avLst>
              <a:gd name="adj" fmla="val 128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57276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Temporal becomes the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 system of record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9536" y="2788920"/>
            <a:ext cx="274320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Releases behave like long-running business processes: they wait, retry, gate, and sometimes fail halfway.</a:t>
            </a:r>
            <a:pPr indent="0" marL="0">
              <a:buNone/>
            </a:pPr>
            <a:r>
              <a:rPr lang="en-US" sz="17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keeps one durable source of truth so the pipeline can resume cleanly and recover without guesswork.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41248" y="5413248"/>
            <a:ext cx="2743200" cy="512064"/>
          </a:xfrm>
          <a:prstGeom prst="roundRect">
            <a:avLst>
              <a:gd name="adj" fmla="val 8929"/>
            </a:avLst>
          </a:prstGeom>
          <a:solidFill>
            <a:srgbClr val="173A64"/>
          </a:solidFill>
          <a:ln w="12700">
            <a:solidFill>
              <a:srgbClr val="4EC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5559552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plane separate from execution plane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526280" y="1261872"/>
            <a:ext cx="2880360" cy="36576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298448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589520" y="1261872"/>
            <a:ext cx="4023360" cy="365760"/>
          </a:xfrm>
          <a:prstGeom prst="rect">
            <a:avLst/>
          </a:prstGeom>
          <a:solidFill>
            <a:srgbClr val="5B6573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99248" y="1298448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Intentionally did not choose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26280" y="1645920"/>
            <a:ext cx="2880360" cy="406908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15240">
            <a:solidFill>
              <a:srgbClr val="D6D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1645920"/>
            <a:ext cx="4023360" cy="406908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5240">
            <a:solidFill>
              <a:srgbClr val="D6DF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874520"/>
            <a:ext cx="251460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orchestration layer across build, publish, deploy, and recovery</a:t>
            </a:r>
            <a:pPr indent="0" marL="0">
              <a:buNone/>
            </a:pPr>
            <a:r>
              <a:rPr lang="en-US" sz="165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Immutable artifact promotion by digest</a:t>
            </a:r>
            <a:pPr indent="0" marL="0">
              <a:buNone/>
            </a:pPr>
            <a:r>
              <a:rPr lang="en-US" sz="165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GitVersion after validation, before publish</a:t>
            </a:r>
            <a:pPr indent="0" marL="0">
              <a:buNone/>
            </a:pPr>
            <a:r>
              <a:rPr lang="en-US" sz="165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task queues and identities for safer operations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772400" y="1874520"/>
            <a:ext cx="365760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Vendor-specific CI logic as the primary state machine</a:t>
            </a:r>
            <a:pPr indent="0" marL="0">
              <a:buNone/>
            </a:pPr>
            <a:r>
              <a:rPr lang="en-US" sz="165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Rebuilding the artifact at every environment boundary</a:t>
            </a:r>
            <a:pPr indent="0" marL="0">
              <a:buNone/>
            </a:pPr>
            <a:r>
              <a:rPr lang="en-US" sz="165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workers that can both build and deploy everywhere</a:t>
            </a:r>
            <a:pPr indent="0" marL="0">
              <a:buNone/>
            </a:pPr>
            <a:r>
              <a:rPr lang="en-US" sz="165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release tags from private branches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4526280" y="5742432"/>
            <a:ext cx="7086600" cy="384048"/>
          </a:xfrm>
          <a:prstGeom prst="roundRect">
            <a:avLst>
              <a:gd name="adj" fmla="val 9524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5833872"/>
            <a:ext cx="6675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Tradeoff: more orchestration to operate, but far less hidden state and faster recovery during incidents.</a:t>
            </a:r>
            <a:endParaRPr lang="en-US" sz="13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Production readiness strategy - failure handling and recovery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to contain failures early, retry safely, and recover without widening blast radius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937760" y="1965960"/>
            <a:ext cx="2194560" cy="2194560"/>
          </a:xfrm>
          <a:prstGeom prst="ellipse">
            <a:avLst/>
          </a:prstGeom>
          <a:solidFill>
            <a:srgbClr val="EAF1FF"/>
          </a:solidFill>
          <a:ln w="25400">
            <a:solidFill>
              <a:srgbClr val="94B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4924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Temporal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loop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0" y="2423160"/>
            <a:ext cx="2194560" cy="0"/>
          </a:xfrm>
          <a:prstGeom prst="line">
            <a:avLst/>
          </a:prstGeom>
          <a:noFill/>
          <a:ln w="27940">
            <a:solidFill>
              <a:srgbClr val="B4231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132320" y="2423160"/>
            <a:ext cx="2194560" cy="0"/>
          </a:xfrm>
          <a:prstGeom prst="line">
            <a:avLst/>
          </a:prstGeom>
          <a:noFill/>
          <a:ln w="2794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43200" y="3657600"/>
            <a:ext cx="2194560" cy="0"/>
          </a:xfrm>
          <a:prstGeom prst="line">
            <a:avLst/>
          </a:prstGeom>
          <a:noFill/>
          <a:ln w="2794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132320" y="3657600"/>
            <a:ext cx="2194560" cy="0"/>
          </a:xfrm>
          <a:prstGeom prst="line">
            <a:avLst/>
          </a:prstGeom>
          <a:noFill/>
          <a:ln w="27940">
            <a:solidFill>
              <a:srgbClr val="1F6FE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1520" y="1417320"/>
            <a:ext cx="1828800" cy="475488"/>
          </a:xfrm>
          <a:prstGeom prst="roundRect">
            <a:avLst>
              <a:gd name="adj" fmla="val 7692"/>
            </a:avLst>
          </a:prstGeom>
          <a:solidFill>
            <a:srgbClr val="FEE4E2"/>
          </a:solidFill>
          <a:ln w="15240">
            <a:solidFill>
              <a:srgbClr val="B42318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14538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failures amplify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464040" y="1417320"/>
            <a:ext cx="1828800" cy="475488"/>
          </a:xfrm>
          <a:prstGeom prst="roundRect">
            <a:avLst>
              <a:gd name="adj" fmla="val 7692"/>
            </a:avLst>
          </a:prstGeom>
          <a:solidFill>
            <a:srgbClr val="E6F8EC"/>
          </a:solidFill>
          <a:ln w="15240">
            <a:solidFill>
              <a:srgbClr val="15803D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509760" y="14538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contain them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1965960"/>
            <a:ext cx="23317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F5B2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0756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triggers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partial reruns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235440" y="1965960"/>
            <a:ext cx="23317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A7D7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45168" y="2057400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IDs + idempotency keys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58368" y="2834640"/>
            <a:ext cx="23317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F5B2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29443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Flaky registry 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targets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235440" y="2834640"/>
            <a:ext cx="23317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A7D7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45168" y="2926080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retries, timeouts, and explicit terminal states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58368" y="3703320"/>
            <a:ext cx="23317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F5B2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3813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 privileges 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pools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235440" y="3703320"/>
            <a:ext cx="23317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A7D7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45168" y="3794760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Task-queue separation + least-privilege identities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58368" y="4572000"/>
            <a:ext cx="23317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F5B2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4681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Rebuild drift between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 and QA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235440" y="4572000"/>
            <a:ext cx="23317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A7D7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45168" y="4663440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once; deploy the same digest forward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3154680" y="4956048"/>
            <a:ext cx="580644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24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10128" y="5102352"/>
            <a:ext cx="1097280" cy="25603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9856" y="513892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model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26280" y="517550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transient external failures in Activities; do not hide permanent failures. Promotion gates remain explicit, and recovery always resumes from known state.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Versioning and safe change management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release identity, branch-aware promotion, and safer evolution of the pipeline itself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325880" y="2788920"/>
            <a:ext cx="8961120" cy="0"/>
          </a:xfrm>
          <a:prstGeom prst="line">
            <a:avLst/>
          </a:prstGeom>
          <a:noFill/>
          <a:ln w="30480">
            <a:solidFill>
              <a:srgbClr val="1F6FEB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13232" y="2331720"/>
            <a:ext cx="132588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1F6FE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2368296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+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tests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23160" y="2331720"/>
            <a:ext cx="132588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16A4A6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2368296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GitVersion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version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33088" y="2331720"/>
            <a:ext cx="132588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1F6FE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78808" y="2368296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+ digest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43016" y="2331720"/>
            <a:ext cx="1188720" cy="822960"/>
          </a:xfrm>
          <a:prstGeom prst="roundRect">
            <a:avLst>
              <a:gd name="adj" fmla="val 4444"/>
            </a:avLst>
          </a:prstGeom>
          <a:solidFill>
            <a:srgbClr val="E6F8EC"/>
          </a:solidFill>
          <a:ln w="15240">
            <a:solidFill>
              <a:srgbClr val="15803D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88736" y="2368296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DEV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79792" y="2331720"/>
            <a:ext cx="960120" cy="822960"/>
          </a:xfrm>
          <a:prstGeom prst="roundRect">
            <a:avLst>
              <a:gd name="adj" fmla="val 4444"/>
            </a:avLst>
          </a:prstGeom>
          <a:solidFill>
            <a:srgbClr val="FFF7ED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25512" y="2368296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851392" y="2331720"/>
            <a:ext cx="1325880" cy="822960"/>
          </a:xfrm>
          <a:prstGeom prst="roundRect">
            <a:avLst>
              <a:gd name="adj" fmla="val 4444"/>
            </a:avLst>
          </a:prstGeom>
          <a:solidFill>
            <a:srgbClr val="E6F8EC"/>
          </a:solidFill>
          <a:ln w="15240">
            <a:solidFill>
              <a:srgbClr val="15803D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97112" y="2368296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QA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(main only)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55280" y="3163824"/>
            <a:ext cx="0" cy="1152144"/>
          </a:xfrm>
          <a:prstGeom prst="line">
            <a:avLst/>
          </a:prstGeom>
          <a:noFill/>
          <a:ln w="22860">
            <a:solidFill>
              <a:srgbClr val="5B657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955280" y="4315968"/>
            <a:ext cx="-1536192" cy="0"/>
          </a:xfrm>
          <a:prstGeom prst="line">
            <a:avLst/>
          </a:prstGeom>
          <a:noFill/>
          <a:ln w="22860">
            <a:solidFill>
              <a:srgbClr val="5B6573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010912" y="40782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non-main: stop after DEV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59368" y="407822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main: continue to QA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" y="4800600"/>
            <a:ext cx="347472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D6DF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4800600"/>
            <a:ext cx="347472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D6DF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83296" y="4800600"/>
            <a:ext cx="347472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D6DF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" y="4910328"/>
            <a:ext cx="1325880" cy="25603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4946904"/>
            <a:ext cx="110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Versioning policy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04672" y="52578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GitVersion runs only after validation passes. Private branches get prerelease identity; official release tags stay on the releasable path.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4480560" y="4910328"/>
            <a:ext cx="1234440" cy="256032"/>
          </a:xfrm>
          <a:prstGeom prst="rect">
            <a:avLst/>
          </a:prstGeom>
          <a:solidFill>
            <a:srgbClr val="16A4A6"/>
          </a:solidFill>
          <a:ln w="12700">
            <a:solidFill>
              <a:srgbClr val="16A4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0288" y="4946904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 policy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17136" y="52578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digest is the deployable truth. Tags help humans; the digest prevents drift when DEV and QA pull the same image.</a:t>
            </a:r>
            <a:endParaRPr lang="en-US" sz="1360" dirty="0"/>
          </a:p>
        </p:txBody>
      </p:sp>
      <p:sp>
        <p:nvSpPr>
          <p:cNvPr id="30" name="Shape 28"/>
          <p:cNvSpPr/>
          <p:nvPr/>
        </p:nvSpPr>
        <p:spPr>
          <a:xfrm>
            <a:off x="8193024" y="4910328"/>
            <a:ext cx="1417320" cy="2560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2752" y="494690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change safety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29600" y="52578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 tests and staged worker rollout are required before changing Workflow logic that coordinates production releases.</a:t>
            </a:r>
            <a:endParaRPr lang="en-US" sz="13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Observability and operational guardrails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operating model should make unhealthy pipelines obvious before customers feel them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417320" y="2267712"/>
            <a:ext cx="237744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417320" y="3840480"/>
            <a:ext cx="2377440" cy="0"/>
          </a:xfrm>
          <a:prstGeom prst="line">
            <a:avLst/>
          </a:prstGeom>
          <a:noFill/>
          <a:ln w="25400">
            <a:solidFill>
              <a:srgbClr val="1F6FE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26280" y="3054096"/>
            <a:ext cx="2834640" cy="0"/>
          </a:xfrm>
          <a:prstGeom prst="line">
            <a:avLst/>
          </a:prstGeom>
          <a:noFill/>
          <a:ln w="27940">
            <a:solidFill>
              <a:srgbClr val="16A4A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092440" y="3054096"/>
            <a:ext cx="1371600" cy="0"/>
          </a:xfrm>
          <a:prstGeom prst="line">
            <a:avLst/>
          </a:prstGeom>
          <a:noFill/>
          <a:ln w="2794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1520" y="1783080"/>
            <a:ext cx="2286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F6FE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819656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Workflows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state, decisions, retries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346704"/>
            <a:ext cx="2286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6A4A6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38328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Adapters + runners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test, publish, deploy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40480" y="2514600"/>
            <a:ext cx="237744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86200" y="2551176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pipeline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• logs • events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06640" y="2514600"/>
            <a:ext cx="201168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15803D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52360" y="2551176"/>
            <a:ext cx="1920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 + alerts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SLOs and runbooks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784080" y="2514600"/>
            <a:ext cx="164592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0B1F3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29800" y="2551176"/>
            <a:ext cx="1554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On-call / release owner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diagnosis and safe override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03320" y="4617720"/>
            <a:ext cx="7680960" cy="3291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13048" y="4654296"/>
            <a:ext cx="7461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we recommend on day 1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703320" y="4974336"/>
            <a:ext cx="768096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D6DF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50208" y="51389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950208" y="53766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Namespace per environment and task-queue separation by trust boundary.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6382512" y="51389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82512" y="53766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Least-privilege service accounts, explicit promotion gates, and manual stop hooks.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8814816" y="51389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Runbooks + SLOs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814816" y="53766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deployment success rate, change failure rate, MTTR, queue lag, and keep one clear incident owner.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Phased path forward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path: immediate safety first, then hardening, then selective autonomy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783080" y="1417320"/>
            <a:ext cx="8595360" cy="0"/>
          </a:xfrm>
          <a:prstGeom prst="line">
            <a:avLst/>
          </a:prstGeom>
          <a:noFill/>
          <a:ln w="38100">
            <a:solidFill>
              <a:srgbClr val="8DB6FF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011680" y="1225296"/>
            <a:ext cx="365760" cy="36576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83080"/>
            <a:ext cx="3520440" cy="434340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524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783080"/>
            <a:ext cx="3520440" cy="804672"/>
          </a:xfrm>
          <a:prstGeom prst="roundRect">
            <a:avLst>
              <a:gd name="adj" fmla="val 5682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Immediate safety and visibility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58952" y="2834640"/>
            <a:ext cx="3191256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72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 up Temporal orchestration for branch-based DEV/QA promotion</a:t>
            </a:r>
            <a:pPr indent="0" marL="0">
              <a:buNone/>
            </a:pPr>
            <a:r>
              <a:rPr lang="en-US" sz="172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720" dirty="0"/>
          </a:p>
          <a:p>
            <a:pPr marL="228600" indent="-228600">
              <a:buSzPct val="100000"/>
              <a:buChar char="•"/>
            </a:pPr>
            <a:r>
              <a:rPr lang="en-US" sz="172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release manifests, digest-based deploys, and audit-friendly status pages</a:t>
            </a:r>
            <a:pPr indent="0" marL="0">
              <a:buNone/>
            </a:pPr>
            <a:r>
              <a:rPr lang="en-US" sz="172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720" dirty="0"/>
          </a:p>
          <a:p>
            <a:pPr marL="228600" indent="-228600">
              <a:buSzPct val="100000"/>
              <a:buChar char="•"/>
            </a:pPr>
            <a:r>
              <a:rPr lang="en-US" sz="172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 core alerts: failed promotions, retry saturation, and queue lag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5623560" y="1225296"/>
            <a:ext cx="365760" cy="365760"/>
          </a:xfrm>
          <a:prstGeom prst="ellipse">
            <a:avLst/>
          </a:prstGeom>
          <a:solidFill>
            <a:srgbClr val="16A4A6"/>
          </a:solidFill>
          <a:ln w="12700">
            <a:solidFill>
              <a:srgbClr val="16A4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783080"/>
            <a:ext cx="3520440" cy="434340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524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1783080"/>
            <a:ext cx="3520440" cy="804672"/>
          </a:xfrm>
          <a:prstGeom prst="roundRect">
            <a:avLst>
              <a:gd name="adj" fmla="val 5682"/>
            </a:avLst>
          </a:prstGeom>
          <a:solidFill>
            <a:srgbClr val="16A4A6"/>
          </a:solidFill>
          <a:ln w="12700">
            <a:solidFill>
              <a:srgbClr val="16A4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9659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Reliability and scale hardening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70832" y="2834640"/>
            <a:ext cx="3191256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72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worker pools by trust and scale profile</a:t>
            </a:r>
            <a:pPr indent="0" marL="0">
              <a:buNone/>
            </a:pPr>
            <a:r>
              <a:rPr lang="en-US" sz="172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720" dirty="0"/>
          </a:p>
          <a:p>
            <a:pPr marL="228600" indent="-228600">
              <a:buSzPct val="100000"/>
              <a:buChar char="•"/>
            </a:pPr>
            <a:r>
              <a:rPr lang="en-US" sz="172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recovery drills, rollout guardrails, and stronger runbooks</a:t>
            </a:r>
            <a:pPr indent="0" marL="0">
              <a:buNone/>
            </a:pPr>
            <a:r>
              <a:rPr lang="en-US" sz="172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720" dirty="0"/>
          </a:p>
          <a:p>
            <a:pPr marL="228600" indent="-228600">
              <a:buSzPct val="100000"/>
              <a:buChar char="•"/>
            </a:pPr>
            <a:r>
              <a:rPr lang="en-US" sz="172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 retries, timeouts, and capacity for peak release windows</a:t>
            </a:r>
            <a:endParaRPr lang="en-US" sz="1720" dirty="0"/>
          </a:p>
        </p:txBody>
      </p:sp>
      <p:sp>
        <p:nvSpPr>
          <p:cNvPr id="15" name="Shape 13"/>
          <p:cNvSpPr/>
          <p:nvPr/>
        </p:nvSpPr>
        <p:spPr>
          <a:xfrm>
            <a:off x="9235440" y="1225296"/>
            <a:ext cx="365760" cy="36576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18120" y="1783080"/>
            <a:ext cx="3520440" cy="434340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524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818120" y="1783080"/>
            <a:ext cx="3520440" cy="804672"/>
          </a:xfrm>
          <a:prstGeom prst="roundRect">
            <a:avLst>
              <a:gd name="adj" fmla="val 5682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19659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3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Optimization and autonomy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982712" y="2834640"/>
            <a:ext cx="3191256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72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 routine approvals where evidence is strong</a:t>
            </a:r>
            <a:pPr indent="0" marL="0">
              <a:buNone/>
            </a:pPr>
            <a:r>
              <a:rPr lang="en-US" sz="172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720" dirty="0"/>
          </a:p>
          <a:p>
            <a:pPr marL="228600" indent="-228600">
              <a:buSzPct val="100000"/>
              <a:buChar char="•"/>
            </a:pPr>
            <a:r>
              <a:rPr lang="en-US" sz="172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 self-service release workflows with policy controls</a:t>
            </a:r>
            <a:pPr indent="0" marL="0">
              <a:buNone/>
            </a:pPr>
            <a:r>
              <a:rPr lang="en-US" sz="172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720" dirty="0"/>
          </a:p>
          <a:p>
            <a:pPr marL="228600" indent="-228600">
              <a:buSzPct val="100000"/>
              <a:buChar char="•"/>
            </a:pPr>
            <a:r>
              <a:rPr lang="en-US" sz="172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 cost and throughput without weakening safety guarantees</a:t>
            </a:r>
            <a:endParaRPr lang="en-US" sz="1720" dirty="0"/>
          </a:p>
        </p:txBody>
      </p:sp>
      <p:sp>
        <p:nvSpPr>
          <p:cNvPr id="20" name="Shape 18"/>
          <p:cNvSpPr/>
          <p:nvPr/>
        </p:nvSpPr>
        <p:spPr>
          <a:xfrm>
            <a:off x="868680" y="6327648"/>
            <a:ext cx="10378440" cy="256032"/>
          </a:xfrm>
          <a:prstGeom prst="roundRect">
            <a:avLst>
              <a:gd name="adj" fmla="val 10714"/>
            </a:avLst>
          </a:prstGeom>
          <a:solidFill>
            <a:srgbClr val="EDF3FF"/>
          </a:solidFill>
          <a:ln w="12700">
            <a:solidFill>
              <a:srgbClr val="C7D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6382512"/>
            <a:ext cx="10058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Recommendation: finish Phase 1 before optimizing for speed. The architecture earns trust when releases are safer and easier to explain, not just faster.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Success criteria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will measure success - and when we would feel confident stepping back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139696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524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417320"/>
            <a:ext cx="2139696" cy="310896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85623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success rate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6656" y="22494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 and QA promotions complete without manual repair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935224" y="1417320"/>
            <a:ext cx="2139696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524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35224" y="1417320"/>
            <a:ext cx="2139696" cy="310896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85623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Change failure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44952" y="22494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bad releases escape into downstream environments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03520" y="1417320"/>
            <a:ext cx="2139696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524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0" y="1417320"/>
            <a:ext cx="2139696" cy="310896"/>
          </a:xfrm>
          <a:prstGeom prst="rect">
            <a:avLst/>
          </a:prstGeom>
          <a:solidFill>
            <a:srgbClr val="16A4A6"/>
          </a:solidFill>
          <a:ln w="12700">
            <a:solidFill>
              <a:srgbClr val="16A4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31536" y="185623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MTTR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13248" y="22494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 are diagnosed and recovered from faster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71816" y="1417320"/>
            <a:ext cx="2139696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524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71816" y="1417320"/>
            <a:ext cx="2139696" cy="31089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99832" y="185623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Traceability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81544" y="22494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release can be tied to a commit, digest, tests, and workflow history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040112" y="1417320"/>
            <a:ext cx="2139696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524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40112" y="1417320"/>
            <a:ext cx="2139696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68128" y="185623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Queue + retry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health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149840" y="22494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see saturation before it becomes customer pain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" y="3246120"/>
            <a:ext cx="10972800" cy="3657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3282696"/>
            <a:ext cx="10753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we would step back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8368" y="3657600"/>
            <a:ext cx="10972800" cy="210312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240">
            <a:solidFill>
              <a:srgbClr val="D6DF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38587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confidence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4160520"/>
            <a:ext cx="29260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unintended promotions past a failed gate for a sustained period</a:t>
            </a:r>
            <a:pPr indent="0" marL="0">
              <a:buNone/>
            </a:pPr>
            <a:r>
              <a:rPr lang="en-US" sz="15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On-call teams use dashboards and manifests instead of tribal knowledge during incidents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453128" y="38587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confidence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53128" y="4160520"/>
            <a:ext cx="29260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Mainline releases move through DEV and QA with predictable timing and evidence</a:t>
            </a:r>
            <a:pPr indent="0" marL="0">
              <a:buNone/>
            </a:pPr>
            <a:r>
              <a:rPr lang="en-US" sz="15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 tests are part of normal pipeline-change rollout hygiene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037576" y="38587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confidence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37576" y="4160520"/>
            <a:ext cx="29260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can add services or switch runners without redesigning release governance</a:t>
            </a:r>
            <a:pPr indent="0" marL="0">
              <a:buNone/>
            </a:pPr>
            <a:r>
              <a:rPr lang="en-US" sz="15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142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review is no longer needed for routine release operations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walkthrough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would show in a customer demo to make the design concrete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F6FE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2710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event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00200" y="1700784"/>
            <a:ext cx="0" cy="3977640"/>
          </a:xfrm>
          <a:prstGeom prst="line">
            <a:avLst/>
          </a:prstGeom>
          <a:noFill/>
          <a:ln w="15240">
            <a:solidFill>
              <a:srgbClr val="C7D2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123444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F6FE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80360" y="12710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UI / status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11880" y="1700784"/>
            <a:ext cx="0" cy="3977640"/>
          </a:xfrm>
          <a:prstGeom prst="line">
            <a:avLst/>
          </a:prstGeom>
          <a:noFill/>
          <a:ln w="15240">
            <a:solidFill>
              <a:srgbClr val="C7D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23444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F6FE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74920" y="12710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Runner / registry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06440" y="1700784"/>
            <a:ext cx="0" cy="3977640"/>
          </a:xfrm>
          <a:prstGeom prst="line">
            <a:avLst/>
          </a:prstGeom>
          <a:noFill/>
          <a:ln w="15240">
            <a:solidFill>
              <a:srgbClr val="C7D2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123444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F6FE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60920" y="12710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 env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92440" y="1700784"/>
            <a:ext cx="0" cy="3977640"/>
          </a:xfrm>
          <a:prstGeom prst="line">
            <a:avLst/>
          </a:prstGeom>
          <a:noFill/>
          <a:ln w="15240">
            <a:solidFill>
              <a:srgbClr val="C7D2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55480" y="123444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F6FE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0" y="12710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env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332720" y="1700784"/>
            <a:ext cx="0" cy="3977640"/>
          </a:xfrm>
          <a:prstGeom prst="line">
            <a:avLst/>
          </a:prstGeom>
          <a:noFill/>
          <a:ln w="15240">
            <a:solidFill>
              <a:srgbClr val="C7D2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1965960"/>
            <a:ext cx="457200" cy="0"/>
          </a:xfrm>
          <a:prstGeom prst="line">
            <a:avLst/>
          </a:prstGeom>
          <a:noFill/>
          <a:ln w="27940">
            <a:solidFill>
              <a:srgbClr val="1F6FEB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468880" y="17556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Push non-main branch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89120" y="2606040"/>
            <a:ext cx="640080" cy="0"/>
          </a:xfrm>
          <a:prstGeom prst="line">
            <a:avLst/>
          </a:prstGeom>
          <a:noFill/>
          <a:ln w="27940">
            <a:solidFill>
              <a:srgbClr val="16A4A6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480560" y="23957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A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Workflow starts, runs build + tests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89120" y="3246120"/>
            <a:ext cx="640080" cy="0"/>
          </a:xfrm>
          <a:prstGeom prst="line">
            <a:avLst/>
          </a:prstGeom>
          <a:noFill/>
          <a:ln w="27940">
            <a:solidFill>
              <a:srgbClr val="1F6FEB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480560" y="30358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GitVersion stamps prerelease and publishes digest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0" y="3886200"/>
            <a:ext cx="731520" cy="0"/>
          </a:xfrm>
          <a:prstGeom prst="line">
            <a:avLst/>
          </a:prstGeom>
          <a:noFill/>
          <a:ln w="2794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675120" y="367588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Same digest deploys to DEV only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377440" y="4663440"/>
            <a:ext cx="7178040" cy="0"/>
          </a:xfrm>
          <a:prstGeom prst="line">
            <a:avLst/>
          </a:prstGeom>
          <a:noFill/>
          <a:ln w="2794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2468880" y="4453128"/>
            <a:ext cx="6995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Merge to main -&gt; DEV then QA progression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869680" y="5303520"/>
            <a:ext cx="-6035040" cy="0"/>
          </a:xfrm>
          <a:prstGeom prst="line">
            <a:avLst/>
          </a:prstGeom>
          <a:noFill/>
          <a:ln w="27940">
            <a:solidFill>
              <a:srgbClr val="B42318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8961120" y="50932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Show failure gate stopping QA after DEV failure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4672" y="5806440"/>
            <a:ext cx="10570464" cy="438912"/>
          </a:xfrm>
          <a:prstGeom prst="roundRect">
            <a:avLst>
              <a:gd name="adj" fmla="val 8333"/>
            </a:avLst>
          </a:prstGeom>
          <a:solidFill>
            <a:srgbClr val="EDF3FF"/>
          </a:solidFill>
          <a:ln w="12700">
            <a:solidFill>
              <a:srgbClr val="C7DA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5934456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of the demo is not a flashy UI - it is to prove safe state transitions, clear evidence, and predictable recovery behavior.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Production-ready CI/CD with Temporal Cloud</dc:title>
  <dc:subject>Customer-facing architecture presentation for Temporal Cloud CI/CD</dc:subject>
  <dc:creator>OpenAI</dc:creator>
  <cp:lastModifiedBy>OpenAI</cp:lastModifiedBy>
  <cp:revision>1</cp:revision>
  <dcterms:created xsi:type="dcterms:W3CDTF">2026-04-11T23:06:11Z</dcterms:created>
  <dcterms:modified xsi:type="dcterms:W3CDTF">2026-04-11T23:06:11Z</dcterms:modified>
</cp:coreProperties>
</file>