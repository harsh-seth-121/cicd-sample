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defRPr sz="1600" b="1">
                <a:solidFill>
                  <a:srgbClr val="A78BFA"/>
                </a:solidFill>
                <a:latin typeface="Arial"/>
              </a:defRPr>
            </a:pPr>
            <a:r>
              <a:t>TEMPORAL CLOUD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CI/CD Pipeline Orchestrator</a:t>
            </a:r>
          </a:p>
          <a:p>
            <a:pPr algn="ctr">
              <a:spcBef>
                <a:spcPts val="0"/>
              </a:spcBef>
              <a:spcAft>
                <a:spcPts val="3200"/>
              </a:spcAft>
              <a:defRPr sz="2200" b="0">
                <a:solidFill>
                  <a:srgbClr val="94A3B8"/>
                </a:solidFill>
                <a:latin typeface="Arial"/>
              </a:defRPr>
            </a:pPr>
            <a:r>
              <a:t>Production-Grade Delivery Infrastructure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D3EE"/>
                </a:solidFill>
                <a:latin typeface="Courier New"/>
              </a:defRPr>
            </a:pPr>
            <a:r>
              <a:t>.NET 8    |    Temporal Cloud    |    Docker    |    React Dashboard    |   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What Teams Actually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A78BFA"/>
                </a:solidFill>
                <a:latin typeface="Arial"/>
              </a:defRPr>
            </a:pPr>
            <a:r>
              <a:t>SECTION 1 — PROBLEM FRAMING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474720" cy="3200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A78BFA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Every commit reaching production has been built, tested, versioned, and verified through identical stages — no shortcuts, no drift.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554480"/>
            <a:ext cx="3474720" cy="3200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554480"/>
            <a:ext cx="34747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22D3EE"/>
                </a:solidFill>
                <a:latin typeface="Arial"/>
              </a:defRPr>
            </a:pPr>
            <a:r>
              <a:t>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See exactly where every pipeline is, what failed, and why — without digging through runner logs or parsing webhook payloads.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554480"/>
            <a:ext cx="3474720" cy="3200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554480"/>
            <a:ext cx="34747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057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Pause, resume, cancel, or rerun any pipeline stage without rebuilding from scratch or SSHing into a runner.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Most CI/CD systems solve for the happy path. Production needs the unhappy path handled just as well.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Where Pipelines Break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500">
                <a:solidFill>
                  <a:srgbClr val="F87171"/>
                </a:solidFill>
                <a:latin typeface="Arial"/>
              </a:rPr>
              <a:t>• Duplicate SCM events — </a:t>
            </a:r>
            <a:r>
              <a:rPr sz="1400">
                <a:solidFill>
                  <a:srgbClr val="F1F5F9"/>
                </a:solidFill>
                <a:latin typeface="Arial"/>
              </a:rPr>
              <a:t>Trigger duplicate workflows, duplicate publishes, and repeated deployments to the same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500">
                <a:solidFill>
                  <a:srgbClr val="F87171"/>
                </a:solidFill>
                <a:latin typeface="Arial"/>
              </a:rPr>
              <a:t>• Flaky build/test runners — </a:t>
            </a:r>
            <a:r>
              <a:rPr sz="1400">
                <a:solidFill>
                  <a:srgbClr val="F1F5F9"/>
                </a:solidFill>
                <a:latin typeface="Arial"/>
              </a:rPr>
              <a:t>Cause cascading retries across long-running work, amplifying cost and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500">
                <a:solidFill>
                  <a:srgbClr val="FBBF24"/>
                </a:solidFill>
                <a:latin typeface="Arial"/>
              </a:rPr>
              <a:t>• Partial publishes — </a:t>
            </a:r>
            <a:r>
              <a:rPr sz="1400">
                <a:solidFill>
                  <a:srgbClr val="F1F5F9"/>
                </a:solidFill>
                <a:latin typeface="Arial"/>
              </a:rPr>
              <a:t>Leave orphaned image tags without manifests, or manifests without final digests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500">
                <a:solidFill>
                  <a:srgbClr val="FBBF24"/>
                </a:solidFill>
                <a:latin typeface="Arial"/>
              </a:rPr>
              <a:t>• DEV failures propagating to QA — </a:t>
            </a:r>
            <a:r>
              <a:rPr sz="1400">
                <a:solidFill>
                  <a:srgbClr val="F1F5F9"/>
                </a:solidFill>
                <a:latin typeface="Arial"/>
              </a:rPr>
              <a:t>Broken builds reach higher environments when gates are weak or bypassed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500">
                <a:solidFill>
                  <a:srgbClr val="FBBF24"/>
                </a:solidFill>
                <a:latin typeface="Arial"/>
              </a:rPr>
              <a:t>• Version drift between build and deploy — </a:t>
            </a:r>
            <a:r>
              <a:rPr sz="1400">
                <a:solidFill>
                  <a:srgbClr val="F1F5F9"/>
                </a:solidFill>
                <a:latin typeface="Arial"/>
              </a:rPr>
              <a:t>Pipelines that rebuild introduce non-determinism between what was tested and what was deployed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500">
                <a:solidFill>
                  <a:srgbClr val="F87171"/>
                </a:solidFill>
                <a:latin typeface="Arial"/>
              </a:rPr>
              <a:t>• Workflow code changes — </a:t>
            </a:r>
            <a:r>
              <a:rPr sz="1400">
                <a:solidFill>
                  <a:srgbClr val="F1F5F9"/>
                </a:solidFill>
                <a:latin typeface="Arial"/>
              </a:rPr>
              <a:t>Non-determinism in orchestration path breaks in-flight pipelines during worker rollout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Design Assumptions &amp;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A78BFA"/>
                </a:solidFill>
                <a:latin typeface="Arial"/>
              </a:defRPr>
            </a:pPr>
            <a:r>
              <a:t>We Assume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Source control is the single source of truth (push, PR, merge, tag)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Build and test must complete before versioning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Every branch deploys to DEV; only main progresses to QA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Container registry is the artifact boundary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Operators need real-time intervention capability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External systems (runners, registries, deploy tools) perform execution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2120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22D3EE"/>
                </a:solidFill>
                <a:latin typeface="Arial"/>
              </a:defRPr>
            </a:pPr>
            <a:r>
              <a:t>We Constrain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745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Publish once, deploy the same image digest forward — no rebuild drift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GitVersion runs only after required gates pass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Failures are contained — a DEV failure never reaches QA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Idempotent activities for safe retries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Task queues isolate failure domains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Deterministic workflow code — all I/O lives in activities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rPr sz="1800" b="1">
                <a:solidFill>
                  <a:srgbClr val="4ADE80"/>
                </a:solidFill>
                <a:latin typeface="Arial"/>
              </a:rPr>
              <a:t>✓  </a:t>
            </a:r>
            <a:r>
              <a:rPr sz="1600">
                <a:solidFill>
                  <a:srgbClr val="F1F5F9"/>
                </a:solidFill>
                <a:latin typeface="Arial"/>
              </a:rPr>
              <a:t>Zero duplicate deployments from duplicate webhook events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rPr sz="1800" b="1">
                <a:solidFill>
                  <a:srgbClr val="4ADE80"/>
                </a:solidFill>
                <a:latin typeface="Arial"/>
              </a:rPr>
              <a:t>✓  </a:t>
            </a:r>
            <a:r>
              <a:rPr sz="1600">
                <a:solidFill>
                  <a:srgbClr val="F1F5F9"/>
                </a:solidFill>
                <a:latin typeface="Arial"/>
              </a:rPr>
              <a:t>Sub-15-minute pipeline from push to DEV deployment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rPr sz="1800" b="1">
                <a:solidFill>
                  <a:srgbClr val="4ADE80"/>
                </a:solidFill>
                <a:latin typeface="Arial"/>
              </a:rPr>
              <a:t>✓  </a:t>
            </a:r>
            <a:r>
              <a:rPr sz="1600">
                <a:solidFill>
                  <a:srgbClr val="F1F5F9"/>
                </a:solidFill>
                <a:latin typeface="Arial"/>
              </a:rPr>
              <a:t>Any failure diagnosable within 60 seconds via dashboard or Temporal UI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rPr sz="1800" b="1">
                <a:solidFill>
                  <a:srgbClr val="4ADE80"/>
                </a:solidFill>
                <a:latin typeface="Arial"/>
              </a:rPr>
              <a:t>✓  </a:t>
            </a:r>
            <a:r>
              <a:rPr sz="1600">
                <a:solidFill>
                  <a:srgbClr val="F1F5F9"/>
                </a:solidFill>
                <a:latin typeface="Arial"/>
              </a:rPr>
              <a:t>Operators can pause, resume, cancel without SSH access or runner credentials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rPr sz="1800" b="1">
                <a:solidFill>
                  <a:srgbClr val="4ADE80"/>
                </a:solidFill>
                <a:latin typeface="Arial"/>
              </a:rPr>
              <a:t>✓  </a:t>
            </a:r>
            <a:r>
              <a:rPr sz="1600">
                <a:solidFill>
                  <a:srgbClr val="F1F5F9"/>
                </a:solidFill>
                <a:latin typeface="Arial"/>
              </a:rPr>
              <a:t>Workflow code can be updated without breaking in-flight pipelines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rPr sz="1800" b="1">
                <a:solidFill>
                  <a:srgbClr val="4ADE80"/>
                </a:solidFill>
                <a:latin typeface="Arial"/>
              </a:rPr>
              <a:t>✓  </a:t>
            </a:r>
            <a:r>
              <a:rPr sz="1600">
                <a:solidFill>
                  <a:srgbClr val="F1F5F9"/>
                </a:solidFill>
                <a:latin typeface="Arial"/>
              </a:rPr>
              <a:t>Full audit trail via Temporal event history and 9 custom search attributes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rPr sz="1800" b="1">
                <a:solidFill>
                  <a:srgbClr val="4ADE80"/>
                </a:solidFill>
                <a:latin typeface="Arial"/>
              </a:rPr>
              <a:t>✓  </a:t>
            </a:r>
            <a:r>
              <a:rPr sz="1600">
                <a:solidFill>
                  <a:srgbClr val="F1F5F9"/>
                </a:solidFill>
                <a:latin typeface="Arial"/>
              </a:rPr>
              <a:t>One command to run locally — docker-compose up --build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6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SECTION 2</a:t>
            </a:r>
          </a:p>
          <a:p>
            <a:pPr algn="ctr">
              <a:spcBef>
                <a:spcPts val="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Opinionated Architecture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4A3B8"/>
                </a:solidFill>
                <a:latin typeface="Arial"/>
              </a:defRPr>
            </a:pPr>
            <a:r>
              <a:t>Why this design, and what we traded for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4846320"/>
            <a:ext cx="21305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System Context</a:t>
            </a:r>
          </a:p>
        </p:txBody>
      </p:sp>
      <p:pic>
        <p:nvPicPr>
          <p:cNvPr id="4" name="Picture 3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91" y="1645920"/>
            <a:ext cx="1713" cy="20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Temporal Cloud is the orchestration engine. External systems perform all execution work. Workers are the bridge.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Component Architecture</a:t>
            </a:r>
          </a:p>
        </p:txBody>
      </p:sp>
      <p:pic>
        <p:nvPicPr>
          <p:cNvPr id="4" name="Picture 3" descr="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620" y="1645920"/>
            <a:ext cx="4455" cy="31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4 workflows, 5 task queues, 5 dedicated workers — each workflow stage has its own failure domain.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End-to-End Pipeline Flow</a:t>
            </a:r>
          </a:p>
        </p:txBody>
      </p:sp>
      <p:pic>
        <p:nvPicPr>
          <p:cNvPr id="4" name="Picture 3" descr="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96" y="1645920"/>
            <a:ext cx="2703" cy="87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Four Workflows, Clear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2651760" cy="3200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6517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7C3AED"/>
                </a:solidFill>
                <a:latin typeface="Arial"/>
              </a:defRPr>
            </a:pPr>
            <a:r>
              <a:t>PipelineIngress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Normalize, classify, deduplicate, dispatch child workflows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cicd.pipeline.orchestrator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400" b="0">
                <a:solidFill>
                  <a:srgbClr val="A78BF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54480"/>
            <a:ext cx="2651760" cy="3200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554480"/>
            <a:ext cx="265176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22D3EE"/>
                </a:solidFill>
                <a:latin typeface="Arial"/>
              </a:defRPr>
            </a:pPr>
            <a:r>
              <a:t>BuildValidation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Checkout, build, unit tests, integration tests, required scans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cicd.build.test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400" b="0">
                <a:solidFill>
                  <a:srgbClr val="A78BF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51760" cy="3200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65176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VersionAndPublish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GitVersion, image build, registry push, digest capture, manifest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cicd.gitversion / cicd.publish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400" b="0">
                <a:solidFill>
                  <a:srgbClr val="A78BF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554480"/>
            <a:ext cx="2651760" cy="3200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554480"/>
            <a:ext cx="26517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4ADE80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057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Deploy to DEV, verify, branch gate, deploy to QA (main only)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cicd.deploy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Each workflow is a Temporal child workflow with its own identity, history, and retry scope. Parent orchestrates the chain.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Task Queues as Failure Domains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194560" cy="2743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194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7C3AED"/>
                </a:solidFill>
                <a:latin typeface="Arial"/>
              </a:defRPr>
            </a:pPr>
            <a:r>
              <a:t>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All 4 workflows + ingress activities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cicd.pipeline.orchestrator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463040"/>
            <a:ext cx="2194560" cy="2743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463040"/>
            <a:ext cx="219456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22D3EE"/>
                </a:solidFill>
                <a:latin typeface="Arial"/>
              </a:defRPr>
            </a:pPr>
            <a:r>
              <a:t>Build &amp;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96596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Checkout, compile, test, scan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cicd.build.test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463040"/>
            <a:ext cx="2194560" cy="2743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463040"/>
            <a:ext cx="219456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GitVersion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6596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Version computation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cicd.gitversion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463040"/>
            <a:ext cx="2194560" cy="2743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463040"/>
            <a:ext cx="219456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Publish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96596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Image push, manifest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cicd.publish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463040"/>
            <a:ext cx="2194560" cy="2743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1463040"/>
            <a:ext cx="21945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4ADE80"/>
                </a:solidFill>
                <a:latin typeface="Arial"/>
              </a:defRPr>
            </a:pPr>
            <a: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96596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DEV &amp; QA deploy + verify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cicd.deploy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5488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480" y="480568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Containment boundaries: Temporal Cloud holds durable state. Task Queues isolate each failure domain. A flaky runner pool does not block version computation. Each queue scales independently.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Branch-Aware Pipeline Policy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Branch Type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Build &amp; Test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GitVersion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Publish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Deploy DEV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Deploy QA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main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feature/*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release/*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hotfix/*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45720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46228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All branches go through the full build → test → version → publish → DEV deploy path. Only main continues from DEV to QA.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9 Custom Search Attributes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CicdPipelineStatus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Current pipeline execution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CicdBranch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Git branch name for filtering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CicdRepository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Repository identifier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CicdCommitSha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Full commit SHA for traceability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CicdStage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Current pipeline stage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CicdPipelineStartedAt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Workflow start timestamp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CicdSemVer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Computed semantic version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CicdImageDigest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Immutable container image digest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CicdTriggerType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webhook, manual, or scheduled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Example query: CicdPipelineStatus = 'Failed' AND CicdBranch = 'main'. These power the dashboard, operational queries, alerting rules, and audit reporting.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Why Temporal — And What We Traded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212080" cy="47548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4ADE80"/>
                </a:solidFill>
                <a:latin typeface="Arial"/>
              </a:defRPr>
            </a:pPr>
            <a:r>
              <a:t>What We 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Durable execution — workflows survive worker restarts and infrastructure failures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Built-in retry policies with exponential backoff and heartbeats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Signal / Query / Update for operator control without custom state management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Event history for complete audit trail of every decision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Search attributes for operational visibility at scale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Child workflows for stage isolation and independent retry scopes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Versioning for safe workflow code changes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Service accounts with API keys for clean automation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212080" cy="47548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2120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What We 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745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Temporal Cloud dependency — managed service as control plane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Determinism constraints — no I/O in workflow code, all side effects in activities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Learning curve for .NET SDK patterns and replay semantics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Additional infrastructure — 5 worker fleets to operate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Operational complexity — more moving parts than a monolithic CI/CD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What we intentionally did not choose: monolithic pipeline runner (Jenkins), event-driven choreography (no central state), custom queue + state machine (rebuild Temporal poorly).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6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SECTION 3</a:t>
            </a:r>
          </a:p>
          <a:p>
            <a:pPr algn="ctr">
              <a:spcBef>
                <a:spcPts val="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Production Readiness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4A3B8"/>
                </a:solidFill>
                <a:latin typeface="Arial"/>
              </a:defRPr>
            </a:pPr>
            <a:r>
              <a:t>Failure handling, versioning, and observability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4846320"/>
            <a:ext cx="21305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Failure Amplification 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Failure Source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How It Amplifies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Duplicate SCM events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Duplicate workflows, publishes, deployments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Idempotency keys + workflow ID deduplication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Resume existing execution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Flaky build/test runners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Repeated long-running work, false failures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Separate task queues, bounded retries, short timeouts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Rerun failed stage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Bad repo checkout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Wrong version, wrong tags, publish confusion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Full history checkout, explicit branch/ref context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Fail before publish, fix config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Partial publish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Tag without manifest, or manifest without digest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Publish + manifest tracked separately, idempotent writes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Replay publish/manifest stage safely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DEV deploy failure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Broken build reaches higher environments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QA blocked unless DEV succeeds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Hold in DEV-failed state, rerun after fix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QA deploy failure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Unstable release candidate partially progressed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No downstream continuation after QA fail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Keep artifact + evidence, retry or promote successor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Workflow code change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Non-determinism in orchestration path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Replay tests before worker rollout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Verify with history replay before shifting traffic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Failure Recovery Control Flow</a:t>
            </a:r>
          </a:p>
        </p:txBody>
      </p:sp>
      <p:pic>
        <p:nvPicPr>
          <p:cNvPr id="4" name="Picture 3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22" y="1645920"/>
            <a:ext cx="2850" cy="46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Transient failures retry automatically. Deterministic failures fail fast. Everything else escalates to the operator path.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Deployment Recovery Model</a:t>
            </a:r>
          </a:p>
        </p:txBody>
      </p:sp>
      <p:pic>
        <p:nvPicPr>
          <p:cNvPr id="4" name="Picture 3" descr="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162" y="1645920"/>
            <a:ext cx="1371" cy="35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Failed deployments enter a hold state. Operators can fix and redeploy without starting a new pipeline. The same published digest is reused.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Retry Policies &amp; Timeout Budget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Heartbeat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Max Attempts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Backoff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Checkout Source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Build / Package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60s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Unit 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60s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Integration Tests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20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120s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Required Scans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60s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GitVersion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2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Image Build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20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120s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Image Push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60s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Deploy to Env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60s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Verify Env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30s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Exponential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Heartbeats detect dead workers. Non-retryable errors (PolicyViolation, AuthenticationError, ConfigurationError) fail fast. Everything else gets bounded exponential backoff.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Operator Controls</a:t>
            </a:r>
          </a:p>
        </p:txBody>
      </p:sp>
      <p:pic>
        <p:nvPicPr>
          <p:cNvPr id="4" name="Picture 3" descr="slid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2637" cy="8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A78BFA"/>
                </a:solidFill>
                <a:latin typeface="Arial"/>
              </a:defRPr>
            </a:pPr>
            <a:r>
              <a:t>API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2D3EE"/>
                </a:solidFill>
                <a:latin typeface="Courier New"/>
              </a:defRPr>
            </a:pPr>
            <a:r>
              <a:t>GET  /api/ops/pipelines/{id}/status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2D3EE"/>
                </a:solidFill>
                <a:latin typeface="Courier New"/>
              </a:defRPr>
            </a:pPr>
            <a:r>
              <a:t>POST /api/ops/pipelines/{id}/pause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2D3EE"/>
                </a:solidFill>
                <a:latin typeface="Courier New"/>
              </a:defRPr>
            </a:pPr>
            <a:r>
              <a:t>POST /api/ops/pipelines/{id}/cancel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2D3EE"/>
                </a:solidFill>
                <a:latin typeface="Courier New"/>
              </a:defRPr>
            </a:pPr>
            <a:r>
              <a:t>POST /api/ops/pipelines/{id}/resume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2D3EE"/>
                </a:solidFill>
                <a:latin typeface="Courier New"/>
              </a:defRPr>
            </a:pPr>
            <a:r>
              <a:t>POST /api/ops/deployments/start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2D3EE"/>
                </a:solidFill>
                <a:latin typeface="Courier New"/>
              </a:defRPr>
            </a:pPr>
            <a:r>
              <a:t>GET  /api/ops/pipelines?repo=X&amp;status=Y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2D3EE"/>
                </a:solidFill>
                <a:latin typeface="Courier New"/>
              </a:defRPr>
            </a:pPr>
            <a:r>
              <a:t>GET  /health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2D3EE"/>
                </a:solidFill>
                <a:latin typeface="Courier New"/>
              </a:defRPr>
            </a:pPr>
            <a:r>
              <a:t>GET  /health/temporal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5029200" cy="1828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526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A78BFA"/>
                </a:solidFill>
                <a:latin typeface="Arial"/>
              </a:defRPr>
            </a:pPr>
            <a:r>
              <a:t>Three Temporal Primitives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920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Query — read current stage, failures, pause state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Signal — pause or cancel from outside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Update — validated resume with operator override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Safe Workflow Code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5661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A78BFA"/>
                </a:solidFill>
                <a:latin typeface="Arial"/>
              </a:defRPr>
            </a:pPr>
            <a:r>
              <a:t>Determinism Guarantee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All workflow code is deterministic. Side effects (network calls, file I/O, timers) live exclusively in activities. Temporal replays workflow decisions from event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356616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22D3EE"/>
                </a:solidFill>
                <a:latin typeface="Arial"/>
              </a:defRPr>
            </a:pPr>
            <a:r>
              <a:t>Replay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7452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Before rolling out new worker code, replay existing workflow histories against the new code to verify compatibility. Catches non-determinism before it reaches production.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716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5661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4ADE80"/>
                </a:solidFill>
                <a:latin typeface="Arial"/>
              </a:defRPr>
            </a:pPr>
            <a:r>
              <a:t>Digest-Based Deploys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87452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Published image digests are immutable. The same digest that passed DEV verification is deployed to QA. No rebuild drift. No "works on my machine."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572000"/>
            <a:ext cx="11338560" cy="16459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572000"/>
            <a:ext cx="1133856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Worker Rollout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1. Deploy new worker code alongside existing workers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2. Run replay tests against production workflow histories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3. Shift traffic to new workers via Temporal versioning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4. Drain old workers after in-flight workflows complete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6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SECTION 4</a:t>
            </a:r>
          </a:p>
          <a:p>
            <a:pPr algn="ctr">
              <a:spcBef>
                <a:spcPts val="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Phased Path Forward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4A3B8"/>
                </a:solidFill>
                <a:latin typeface="Arial"/>
              </a:defRPr>
            </a:pPr>
            <a:r>
              <a:t>Three phases from safety to autonomy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4846320"/>
            <a:ext cx="21305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Phase 1 — Safety &amp; Visibility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5029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800" cy="5029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4ADE80"/>
                </a:solidFill>
                <a:latin typeface="Arial"/>
              </a:defRPr>
            </a:pPr>
            <a:r>
              <a:t>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4ADE80"/>
                </a:solidFill>
                <a:latin typeface="Arial"/>
              </a:defRPr>
            </a:pPr>
            <a:r>
              <a:t>CURRENT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All 4 workflows operational with correct stage ordering and child workflow orchestration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9 search attributes registered and populated on every workflow execution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Pipeline deduplication via deterministic workflow IDs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Failure containment boundaries enforced — DEV protects QA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React dashboard with real-time pipeline status (3s detail polling, 5s list polling)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Operator controls: pause, cancel, resume via REST API and dashboard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Docker Compose with 14 services for local development and demo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GitHub Actions CI pipeline (build, test, Docker image matrix)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Comprehensive test suite: unit tests, workflow tests, integration tests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Health check endpoints for API and Temporal connectivity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Phase 2 — Reliability &amp;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800" cy="457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FBBF24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BBF24"/>
                </a:solidFill>
                <a:latin typeface="Arial"/>
              </a:defRPr>
            </a:pPr>
            <a:r>
              <a:t>PLANNED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Replay testing suite for workflow determinism validation before every deploy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Worker fleet auto-scaling per task queue based on queue depth and latency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Metrics export: workflow latency, activity failure rates, queue depth, heartbeat lag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Alert rules based on search attributes and Temporal Cloud metrics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Multi-repository support with shared worker pools and per-repo configuration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Temporal Cloud namespace isolation: staging namespace for pre-production testing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Load testing with concurrent pipeline submissions and failure injection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Structured logging with correlation IDs across all workers and API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Phase 3 — Optimization &amp; Autonomy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800" cy="4572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22D3EE"/>
                </a:solidFill>
                <a:latin typeface="Arial"/>
              </a:defRPr>
            </a:pPr>
            <a:r>
              <a:t>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22D3EE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Auto-rollback on QA verification failure with configurable policy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Canary deployment support with progressive traffic shifting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Pipeline templates for different project types (library, service, frontend)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Self-service onboarding for new repositories — config-driven, no code changes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Cost optimization: worker right-sizing based on queue utilization metrics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Advanced operator controls: stage skip, forced promotion, targeted rollback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Integration with incident management and change advisory boards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•  Multi-cloud deploy targets (AWS, GCP, Azure) with environment abstraction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6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SECTION 5</a:t>
            </a:r>
          </a:p>
          <a:p>
            <a:pPr algn="ctr">
              <a:spcBef>
                <a:spcPts val="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Success Criteria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4A3B8"/>
                </a:solidFill>
                <a:latin typeface="Arial"/>
              </a:defRPr>
            </a:pPr>
            <a:r>
              <a:t>How we measure success, when we step 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4846320"/>
            <a:ext cx="21305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How We Measure Success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4ADE80"/>
                </a:solidFill>
                <a:latin typeface="Arial"/>
              </a:defRPr>
            </a:pPr>
            <a:r>
              <a:t>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Zero duplicate deployments from duplicate webhook events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Zero partial publishes — every publish produces a manifest with a digest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Failed pipelines diagnosable within 60 seconds via dashboard or Temporal UI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No DEV failure ever propagates to QA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486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22D3EE"/>
                </a:solidFill>
                <a:latin typeface="Arial"/>
              </a:defRPr>
            </a:pPr>
            <a: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745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Push to DEV deploy under 15 minutes for standard builds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Push to QA under 20 minutes for main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Operator pause/resume round-trip under 5 seconds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Dashboard reflects stage changes within 3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4864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100% of pipelines searchable by repository, branch, status, and commit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Dashboard shows real-time stage progression with failure details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Every workflow decision recorded in Temporal event history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Search attribute queries enable alerting and reporting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93192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931920"/>
            <a:ext cx="54864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Operator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Any pipeline can be paused/resumed/cancelled without SSH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Failure evidence preserved in workflow history and search attributes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Redeploy from hold state without rebuilding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New team members productive with controls within 30 minutes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When the System Runs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Maturity indicators for hands-off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rPr sz="1400">
                <a:solidFill>
                  <a:srgbClr val="4ADE80"/>
                </a:solidFill>
                <a:latin typeface="Arial"/>
              </a:rPr>
              <a:t>●  </a:t>
            </a:r>
            <a:r>
              <a:rPr sz="1500">
                <a:solidFill>
                  <a:srgbClr val="F1F5F9"/>
                </a:solidFill>
                <a:latin typeface="Arial"/>
              </a:rPr>
              <a:t>Teams trigger pipelines and walk away — no babysitting, no refreshing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rPr sz="1400">
                <a:solidFill>
                  <a:srgbClr val="4ADE80"/>
                </a:solidFill>
                <a:latin typeface="Arial"/>
              </a:rPr>
              <a:t>●  </a:t>
            </a:r>
            <a:r>
              <a:rPr sz="1500">
                <a:solidFill>
                  <a:srgbClr val="F1F5F9"/>
                </a:solidFill>
                <a:latin typeface="Arial"/>
              </a:rPr>
              <a:t>Failures self-classify — transient retries recover automatically, deterministic failures report immediately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rPr sz="1400">
                <a:solidFill>
                  <a:srgbClr val="4ADE80"/>
                </a:solidFill>
                <a:latin typeface="Arial"/>
              </a:rPr>
              <a:t>●  </a:t>
            </a:r>
            <a:r>
              <a:rPr sz="1500">
                <a:solidFill>
                  <a:srgbClr val="F1F5F9"/>
                </a:solidFill>
                <a:latin typeface="Arial"/>
              </a:rPr>
              <a:t>Operators intervene &lt; 5% of the time — on-call for pipelines is rare, not routine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rPr sz="1400">
                <a:solidFill>
                  <a:srgbClr val="4ADE80"/>
                </a:solidFill>
                <a:latin typeface="Arial"/>
              </a:rPr>
              <a:t>●  </a:t>
            </a:r>
            <a:r>
              <a:rPr sz="1500">
                <a:solidFill>
                  <a:srgbClr val="F1F5F9"/>
                </a:solidFill>
                <a:latin typeface="Arial"/>
              </a:rPr>
              <a:t>New repositories onboard in minutes — config-driven, no code changes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rPr sz="1400">
                <a:solidFill>
                  <a:srgbClr val="4ADE80"/>
                </a:solidFill>
                <a:latin typeface="Arial"/>
              </a:rPr>
              <a:t>●  </a:t>
            </a:r>
            <a:r>
              <a:rPr sz="1500">
                <a:solidFill>
                  <a:srgbClr val="F1F5F9"/>
                </a:solidFill>
                <a:latin typeface="Arial"/>
              </a:rPr>
              <a:t>Workflow code changes deploy safely — replay testing catches issues before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The goal is not to build the most sophisticated pipeline system. It is to build one that teams trust enough to stop thinking about.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6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SECTION 6</a:t>
            </a:r>
          </a:p>
          <a:p>
            <a:pPr algn="ctr">
              <a:spcBef>
                <a:spcPts val="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Architecture Walkthrough &amp; Demo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94A3B8"/>
                </a:solidFill>
                <a:latin typeface="Arial"/>
              </a:defRPr>
            </a:pPr>
            <a:r>
              <a:t>Live system running in Docker Compose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4846320"/>
            <a:ext cx="21305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14 Services, One Command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486400" cy="20116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A78BFA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PostgreSQL 16 — Temporal backend storage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Temporal Server — auto-setup with namespace cicd-prodctl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Temporal UI — workflow visibility on port 8080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Temporal Init — registers 9 search attributes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657600"/>
            <a:ext cx="5486400" cy="16459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A78BFA"/>
                </a:solidFill>
                <a:latin typeface="Arial"/>
              </a:defRPr>
            </a:pPr>
            <a: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API Server — ASP.NET Core on port 5100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5 Workers — Orchestrator, BuildTest, GitVersion, Publish, Deploy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Dashboard — React + nginx on port 3001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A78BFA"/>
                </a:solidFill>
                <a:latin typeface="Arial"/>
              </a:defRPr>
            </a:pPr>
            <a:r>
              <a:t>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D3EE"/>
                </a:solidFill>
                <a:latin typeface="Courier New"/>
              </a:defRPr>
            </a:pPr>
            <a:r>
              <a:t>docker-compose up --build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25603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78BFA"/>
                          </a:solidFill>
                          <a:latin typeface="Arial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1A1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localhost:3001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localhost:5100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Temporal 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localhost:8080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Temporal gRPC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localhost:7233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5943600"/>
            <a:ext cx="508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" y="5994400"/>
            <a:ext cx="1072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All services on a shared Docker bridge network. Workers connect to Temporal via temporal:7233.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Pipeline Dashboard</a:t>
            </a:r>
          </a:p>
        </p:txBody>
      </p:sp>
      <p:pic>
        <p:nvPicPr>
          <p:cNvPr id="4" name="Picture 3" descr="slide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204" y="1188720"/>
            <a:ext cx="5286" cy="145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74320" y="4846320"/>
            <a:ext cx="3657600" cy="16459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Pipeline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Filter by repo &amp; status. Each row shows StatusBadge with color-coded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846320"/>
            <a:ext cx="3657600" cy="16459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22D3EE"/>
                </a:solidFill>
                <a:latin typeface="Arial"/>
              </a:defRPr>
            </a:pPr>
            <a:r>
              <a:t>Stage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349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11-stage visual bar from Received through VerifyingQA. Active/completed/failed indicators.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846320"/>
            <a:ext cx="3657600" cy="16459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4ADE80"/>
                </a:solidFill>
                <a:latin typeface="Arial"/>
              </a:defRPr>
            </a:pPr>
            <a:r>
              <a:t>Operator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5349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Pause, cancel, resume buttons. Inline error messages. Loading state during mutations.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Demo: Push to Deploy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400">
                <a:solidFill>
                  <a:srgbClr val="FFFFFF"/>
                </a:solidFill>
                <a:latin typeface="Arial"/>
              </a:rPr>
              <a:t>Start the stack  —  </a:t>
            </a:r>
            <a:r>
              <a:rPr sz="1200">
                <a:solidFill>
                  <a:srgbClr val="94A3B8"/>
                </a:solidFill>
                <a:latin typeface="Courier New"/>
              </a:rPr>
              <a:t>docker-compose up --build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400">
                <a:solidFill>
                  <a:srgbClr val="FFFFFF"/>
                </a:solidFill>
                <a:latin typeface="Arial"/>
              </a:rPr>
              <a:t>Trigger a pipeline via webhook  —  </a:t>
            </a:r>
            <a:r>
              <a:rPr sz="1200">
                <a:solidFill>
                  <a:srgbClr val="94A3B8"/>
                </a:solidFill>
                <a:latin typeface="Courier New"/>
              </a:rPr>
              <a:t>curl -X POST http://localhost:5100/api/webhooks/github -H 'Content-Type: application/json' -d '{"repository":"test/repo","ref":"refs/heads/main","commitSha":"abc1234567890","eventType":"push"}'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400">
                <a:solidFill>
                  <a:srgbClr val="FFFFFF"/>
                </a:solidFill>
                <a:latin typeface="Arial"/>
              </a:rPr>
              <a:t>Watch the dashboard  —  </a:t>
            </a:r>
            <a:r>
              <a:rPr sz="1200">
                <a:solidFill>
                  <a:srgbClr val="94A3B8"/>
                </a:solidFill>
                <a:latin typeface="Arial"/>
              </a:rPr>
              <a:t>Stages progress from Received through BuildValidation, VersionAndPublish, to Deployment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400">
                <a:solidFill>
                  <a:srgbClr val="FFFFFF"/>
                </a:solidFill>
                <a:latin typeface="Arial"/>
              </a:rPr>
              <a:t>Open Temporal UI (localhost:8080)  —  </a:t>
            </a:r>
            <a:r>
              <a:rPr sz="1200">
                <a:solidFill>
                  <a:srgbClr val="94A3B8"/>
                </a:solidFill>
                <a:latin typeface="Arial"/>
              </a:rPr>
              <a:t>See workflow execution history, search attributes populated, child workflow chain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6344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400">
                <a:solidFill>
                  <a:srgbClr val="FFFFFF"/>
                </a:solidFill>
                <a:latin typeface="Arial"/>
              </a:rPr>
              <a:t>Demonstrate operator control  —  </a:t>
            </a:r>
            <a:r>
              <a:rPr sz="1200">
                <a:solidFill>
                  <a:srgbClr val="94A3B8"/>
                </a:solidFill>
                <a:latin typeface="Arial"/>
              </a:rPr>
              <a:t>Pause a running pipeline from the dashboard, observe Paused state, then resume with operator ID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48640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rPr b="1" sz="1400">
                <a:solidFill>
                  <a:srgbClr val="FFFFFF"/>
                </a:solidFill>
                <a:latin typeface="Arial"/>
              </a:rPr>
              <a:t>Show failure handling  —  </a:t>
            </a:r>
            <a:r>
              <a:rPr sz="1200">
                <a:solidFill>
                  <a:srgbClr val="94A3B8"/>
                </a:solidFill>
                <a:latin typeface="Arial"/>
              </a:rPr>
              <a:t>Trigger a pipeline that fails at build stage, inspect FailurePanel with evidence and diagnostic data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State Machines: Every Stage Accounted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188720"/>
            <a:ext cx="5577840" cy="24688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Pipeline Ingress</a:t>
            </a:r>
          </a:p>
        </p:txBody>
      </p:sp>
      <p:pic>
        <p:nvPicPr>
          <p:cNvPr id="6" name="Picture 5" descr="slide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164" y="1645920"/>
            <a:ext cx="1272" cy="19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188720"/>
            <a:ext cx="5577840" cy="24688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22D3EE"/>
                </a:solidFill>
                <a:latin typeface="Arial"/>
              </a:defRPr>
            </a:pPr>
            <a:r>
              <a:t>Build Validation</a:t>
            </a:r>
          </a:p>
        </p:txBody>
      </p:sp>
      <p:pic>
        <p:nvPicPr>
          <p:cNvPr id="9" name="Picture 8" descr="slide3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990" y="1645920"/>
            <a:ext cx="1059" cy="21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82880" y="3840480"/>
            <a:ext cx="5577840" cy="24688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Version &amp; Publish</a:t>
            </a:r>
          </a:p>
        </p:txBody>
      </p:sp>
      <p:pic>
        <p:nvPicPr>
          <p:cNvPr id="12" name="Picture 11" descr="slide3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327" y="4297680"/>
            <a:ext cx="945" cy="27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0" y="3840480"/>
            <a:ext cx="5577840" cy="24688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4ADE80"/>
                </a:solidFill>
                <a:latin typeface="Arial"/>
              </a:defRPr>
            </a:pPr>
            <a:r>
              <a:t>Deployment</a:t>
            </a:r>
          </a:p>
        </p:txBody>
      </p:sp>
      <p:pic>
        <p:nvPicPr>
          <p:cNvPr id="15" name="Picture 14" descr="slide33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1848" y="4297680"/>
            <a:ext cx="1344" cy="21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0"/>
              </a:spcBef>
              <a:spcAft>
                <a:spcPts val="3200"/>
              </a:spcAft>
              <a:defRPr sz="2000" b="0">
                <a:solidFill>
                  <a:srgbClr val="94A3B8"/>
                </a:solidFill>
                <a:latin typeface="Arial"/>
              </a:defRPr>
            </a:pPr>
            <a:r>
              <a:t>Production-grade CI/CD orchestration with Temporal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4ADE80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4A3B8"/>
                </a:solidFill>
                <a:latin typeface="Arial"/>
              </a:defRPr>
            </a:pPr>
            <a:r>
              <a:t>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22D3EE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4A3B8"/>
                </a:solidFill>
                <a:latin typeface="Arial"/>
              </a:defRPr>
            </a:pPr>
            <a:r>
              <a:t>Task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FBBF24"/>
                </a:solidFill>
                <a:latin typeface="Arial"/>
              </a:defRPr>
            </a:pPr>
            <a:r>
              <a:t>14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4A3B8"/>
                </a:solidFill>
                <a:latin typeface="Arial"/>
              </a:defRPr>
            </a:pPr>
            <a:r>
              <a:t>Docker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A78BFA"/>
                </a:solidFill>
                <a:latin typeface="Arial"/>
              </a:defRPr>
            </a:pPr>
            <a:r>
              <a:t>9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4A3B8"/>
                </a:solidFill>
                <a:latin typeface="Arial"/>
              </a:defRPr>
            </a:pPr>
            <a:r>
              <a:t>Search Attributes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389120"/>
            <a:ext cx="2560320" cy="914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434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Dashboard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D3EE"/>
                </a:solidFill>
                <a:latin typeface="Courier New"/>
              </a:defRPr>
            </a:pPr>
            <a:r>
              <a:t>localhost:3001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389120"/>
            <a:ext cx="2560320" cy="914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4434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API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D3EE"/>
                </a:solidFill>
                <a:latin typeface="Courier New"/>
              </a:defRPr>
            </a:pPr>
            <a:r>
              <a:t>localhost:5100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389120"/>
            <a:ext cx="2560320" cy="9144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434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Temporal UI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D3EE"/>
                </a:solidFill>
                <a:latin typeface="Courier New"/>
              </a:defRPr>
            </a:pPr>
            <a:r>
              <a:t>localhost:8080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.NET 8    |    Temporal Cloud    |    4 Workflows    |    5 Workers    |    14 Docker Services    |    React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